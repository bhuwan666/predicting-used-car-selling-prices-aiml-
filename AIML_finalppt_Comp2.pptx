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96" r:id="rId6"/>
    <p:sldId id="257" r:id="rId7"/>
    <p:sldId id="271" r:id="rId8"/>
    <p:sldId id="281" r:id="rId9"/>
    <p:sldId id="299" r:id="rId10"/>
    <p:sldId id="301" r:id="rId11"/>
    <p:sldId id="282" r:id="rId12"/>
    <p:sldId id="302" r:id="rId13"/>
    <p:sldId id="305" r:id="rId14"/>
    <p:sldId id="283" r:id="rId15"/>
    <p:sldId id="309" r:id="rId16"/>
    <p:sldId id="303" r:id="rId17"/>
    <p:sldId id="307" r:id="rId18"/>
    <p:sldId id="308" r:id="rId19"/>
    <p:sldId id="306" r:id="rId20"/>
    <p:sldId id="293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04" r:id="rId29"/>
    <p:sldId id="318" r:id="rId30"/>
    <p:sldId id="31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3340F-D3D7-4E87-BF55-283B285CECB4}" v="2951" dt="2025-12-18T01:50:56.949"/>
    <p1510:client id="{25F3E856-D213-9745-9965-712BE0D370B9}" v="7" dt="2025-12-18T00:53:27.975"/>
    <p1510:client id="{E1F36259-6498-1819-EAD8-9C5E07560F78}" v="13" dt="2025-12-17T14:01:26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02F3-7BE2-C536-1018-59B6C2BA7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E7A47-ED07-12B9-2E03-AB7A8A999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5034D-4956-9C6B-1680-968B1CCE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967B-1FAE-8987-9978-87F89439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EB47-6D30-CE44-BDCD-F27076D1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7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47AA-3D78-0FD3-4107-DB6BF631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DDD8-EA04-3588-D9FC-C1648652B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C4E0F-A337-6B6A-9697-59277377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84A92-03DE-C4B6-EF4B-4495DAA6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A988-2AFA-9771-20B4-7827F76C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F0E6-12EE-027C-6CA3-F9D10E16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36096-2FB0-E157-8C50-91EC4DCD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1EB5B-EF05-F581-D4ED-0EBD8C6E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1FE1-C47A-2809-3114-AFB7166C3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D19D4-BC8E-6085-5882-8D07E6F5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5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10AE-C805-A694-7EC3-3AE3410E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4F8DB-04DA-43D0-E7BF-249A17608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93F67-856B-B72F-6BA9-5C085B48A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45D1C-AB44-77F6-990B-C72E8021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1972-0EA1-9EF8-BD40-F7EA8C34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FA98E-E555-BE2A-95C7-6F667E81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0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CD35-BD11-EDF5-7AF6-009A476DB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0E33-AF62-00A2-1F0C-7BF84BAFB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9042E-DBD8-C406-ED13-8998F29CA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A0BB6-74AC-7E86-C8BC-0F651CB0E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BF2DA-BBDE-6123-5B84-DD1EE4611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B8BC76-57D4-FD5E-16F2-7A965E120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76F67-DA3D-EE14-30FC-461D73E0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680C2-69AB-6B7A-8FF3-7D3205AB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2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28FD-0AF5-C2EE-C6EA-2588F800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4A18A-A590-3D04-DFF9-4D787BC3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439EC-324C-B6F9-1E5A-68D60C25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3E34C-C28C-6B32-2275-72B27AAF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3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43128-AA4B-F08E-2975-E19F5F33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7435A-A261-F1B7-6B91-342AC605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16CA0-AFC2-0879-7667-EAF91845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873F-1B49-D87C-898C-DC7C97B1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1576-A618-4869-8042-257486FB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F5ECE-27AE-E916-CCBA-D23DAD299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79B1A-6FE9-0668-DD36-773B4A1A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C854F-49E9-0869-BF7D-5449633E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66E8B-F1F9-9769-2489-9883292B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5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5C31-BC9D-9974-B3B4-E44BFDEC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023AE-A26E-F6E0-A4B7-A251572B0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2B75D-0CDB-5A90-11FF-684ACEFB9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07484-8193-4786-E2A2-25AEED84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1144D-9D25-A616-7495-924AAA06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7737B-ACB4-3CF1-4D25-9338402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5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A0BF-3EA5-EAA2-70C6-CE3BE6B2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9D014-B217-8FE0-08EF-DFF166B99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A66F-60A9-3BA2-81AE-632E68A1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2E0AE-7505-DA6B-7885-F18858E7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C1A5D-F51C-7217-2D75-BD297995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4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392DB-454A-3308-DF25-C77805D99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2A719-BB80-5749-A306-B0ED349B2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C01D6-0E3E-EAFD-B771-ABE9DCF0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31F89-02B2-98A1-617A-65811F3A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77F00-4FC3-5D66-DFC5-C02B1EE0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1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0DA42-3D84-D776-D4D7-5F87308A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BD2E6-B803-7D65-C11B-EE111BDBC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10E64-466C-1923-CBCF-43BB3B0C7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4259D-0D63-A746-8F45-D559A12D16E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5A083-DE9F-5826-6075-627CD5AE2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C9197-DC07-188F-62D4-68D8FD6C1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0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yorksj.ac.uk/assessment/coversheet-statement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173D-3AF9-E442-CBD4-A58D78232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291" y="1655903"/>
            <a:ext cx="8872124" cy="897925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Predicting Used Car Prices Using Machine Learning: A Comparative Regression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79E76B-E4BF-F1F9-CE51-CCB32FC8316A}"/>
              </a:ext>
            </a:extLst>
          </p:cNvPr>
          <p:cNvCxnSpPr/>
          <p:nvPr/>
        </p:nvCxnSpPr>
        <p:spPr>
          <a:xfrm>
            <a:off x="617838" y="324982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BC676C5A-CF35-FADC-AF79-DDFA9DF79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9427033"/>
              </p:ext>
            </p:extLst>
          </p:nvPr>
        </p:nvGraphicFramePr>
        <p:xfrm>
          <a:off x="747252" y="2553828"/>
          <a:ext cx="9134163" cy="3994454"/>
        </p:xfrm>
        <a:graphic>
          <a:graphicData uri="http://schemas.openxmlformats.org/drawingml/2006/table">
            <a:tbl>
              <a:tblPr firstRow="1" firstCol="1" bandRow="1"/>
              <a:tblGrid>
                <a:gridCol w="4244136">
                  <a:extLst>
                    <a:ext uri="{9D8B030D-6E8A-4147-A177-3AD203B41FA5}">
                      <a16:colId xmlns:a16="http://schemas.microsoft.com/office/drawing/2014/main" val="67251598"/>
                    </a:ext>
                  </a:extLst>
                </a:gridCol>
                <a:gridCol w="4890027">
                  <a:extLst>
                    <a:ext uri="{9D8B030D-6E8A-4147-A177-3AD203B41FA5}">
                      <a16:colId xmlns:a16="http://schemas.microsoft.com/office/drawing/2014/main" val="3533018794"/>
                    </a:ext>
                  </a:extLst>
                </a:gridCol>
              </a:tblGrid>
              <a:tr h="753195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en-GB" sz="1800" b="1" u="sng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The Coversheet</a:t>
                      </a:r>
                      <a:endParaRPr lang="en-GB" sz="1800" b="1" kern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1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1019"/>
                  </a:ext>
                </a:extLst>
              </a:tr>
              <a:tr h="655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(unless anonymised)  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Bhuwan</a:t>
                      </a: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Bahadur Ale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Rustom Ale Magar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09896"/>
                  </a:ext>
                </a:extLst>
              </a:tr>
              <a:tr h="655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Number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(as shown on student ID card): 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250223495</a:t>
                      </a:r>
                    </a:p>
                    <a:p>
                      <a:pPr lvl="0">
                        <a:lnSpc>
                          <a:spcPct val="107000"/>
                        </a:lnSpc>
                        <a:buNone/>
                      </a:pPr>
                      <a:r>
                        <a:rPr lang="en-GB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250212282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955742"/>
                  </a:ext>
                </a:extLst>
              </a:tr>
              <a:tr h="3962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Word Count / Pages / Duration / Other Limits: 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15 mins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916432"/>
                  </a:ext>
                </a:extLst>
              </a:tr>
              <a:tr h="450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Assessment component number (1,2 or 3)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86846"/>
                  </a:ext>
                </a:extLst>
              </a:tr>
              <a:tr h="450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Assessment type</a:t>
                      </a:r>
                      <a:endParaRPr lang="en-GB" sz="14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>
                          <a:effectLst/>
                          <a:latin typeface="Helvetica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547218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Attempt Number: 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1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6147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Date of Submission: 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/>
                          <a:ea typeface="Calibri"/>
                          <a:cs typeface="Times New Roman"/>
                        </a:rPr>
                        <a:t>18 /12/2025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10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90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B81EE-3885-D2D3-457D-283BB862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1AE869-FA86-043C-2AA4-0DBE80E44528}"/>
              </a:ext>
            </a:extLst>
          </p:cNvPr>
          <p:cNvCxnSpPr/>
          <p:nvPr/>
        </p:nvCxnSpPr>
        <p:spPr>
          <a:xfrm>
            <a:off x="617838" y="324982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8EC5FF-0A7E-52D8-D081-D4B9EDEA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64412"/>
              </p:ext>
            </p:extLst>
          </p:nvPr>
        </p:nvGraphicFramePr>
        <p:xfrm>
          <a:off x="854012" y="2273412"/>
          <a:ext cx="9007741" cy="1155587"/>
        </p:xfrm>
        <a:graphic>
          <a:graphicData uri="http://schemas.openxmlformats.org/drawingml/2006/table">
            <a:tbl>
              <a:tblPr firstRow="1" firstCol="1" bandRow="1"/>
              <a:tblGrid>
                <a:gridCol w="7218382">
                  <a:extLst>
                    <a:ext uri="{9D8B030D-6E8A-4147-A177-3AD203B41FA5}">
                      <a16:colId xmlns:a16="http://schemas.microsoft.com/office/drawing/2014/main" val="787756284"/>
                    </a:ext>
                  </a:extLst>
                </a:gridCol>
                <a:gridCol w="1789359">
                  <a:extLst>
                    <a:ext uri="{9D8B030D-6E8A-4147-A177-3AD203B41FA5}">
                      <a16:colId xmlns:a16="http://schemas.microsoft.com/office/drawing/2014/main" val="2451618896"/>
                    </a:ext>
                  </a:extLst>
                </a:gridCol>
              </a:tblGrid>
              <a:tr h="2833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have read and understood the </a:t>
                      </a:r>
                      <a:r>
                        <a:rPr lang="en-GB" sz="1400" u="sng">
                          <a:solidFill>
                            <a:srgbClr val="0563C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Academic Misconduct statement</a:t>
                      </a: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Tick to confirm </a:t>
                      </a:r>
                      <a:r>
                        <a:rPr lang="en-GB" sz="1400"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568068"/>
                  </a:ext>
                </a:extLst>
              </a:tr>
              <a:tr h="2833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have read and understood the </a:t>
                      </a:r>
                      <a:r>
                        <a:rPr lang="en-GB" sz="1400" u="sng">
                          <a:solidFill>
                            <a:srgbClr val="0563C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Generative Artificial Intelligence use statement</a:t>
                      </a: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Tick to confirm </a:t>
                      </a:r>
                      <a:r>
                        <a:rPr lang="en-GB" sz="1400"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311619"/>
                  </a:ext>
                </a:extLst>
              </a:tr>
              <a:tr h="588885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I am satisfied that I have met the Learning Outcomes of this assignment 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(please check the Assignment Brief if you are unsure)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​​​</a:t>
                      </a:r>
                      <a:r>
                        <a:rPr lang="en-GB" sz="140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</a:t>
                      </a:r>
                      <a:r>
                        <a:rPr lang="en-GB" sz="140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400">
                          <a:solidFill>
                            <a:srgbClr val="7F7F7F"/>
                          </a:solidFill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913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6FF83F-571B-9B48-D9E3-A4DB99715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962977"/>
              </p:ext>
            </p:extLst>
          </p:nvPr>
        </p:nvGraphicFramePr>
        <p:xfrm>
          <a:off x="854012" y="3629966"/>
          <a:ext cx="9007739" cy="2310713"/>
        </p:xfrm>
        <a:graphic>
          <a:graphicData uri="http://schemas.openxmlformats.org/drawingml/2006/table">
            <a:tbl>
              <a:tblPr firstRow="1" firstCol="1" bandRow="1"/>
              <a:tblGrid>
                <a:gridCol w="9007739">
                  <a:extLst>
                    <a:ext uri="{9D8B030D-6E8A-4147-A177-3AD203B41FA5}">
                      <a16:colId xmlns:a16="http://schemas.microsoft.com/office/drawing/2014/main" val="609738656"/>
                    </a:ext>
                  </a:extLst>
                </a:gridCol>
              </a:tblGrid>
              <a:tr h="691265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Self-Assessment</a:t>
                      </a: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 – If there are particular aspects of your assignment on which you would like feedback, please indicate below.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Optional for students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675"/>
                  </a:ext>
                </a:extLst>
              </a:tr>
              <a:tr h="1162821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b="1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Suggested prompt questions-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How have you developed or progressed your learning in this work?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do you feel is the strongest part of this submission?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feedback would you give yourself?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part(s) of this assignment are you still unsure about?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089793"/>
                  </a:ext>
                </a:extLst>
              </a:tr>
              <a:tr h="456627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60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19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Table of Content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46F0-EB5C-D552-4FFE-94160790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4"/>
            <a:ext cx="8665447" cy="50323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900" dirty="0"/>
              <a:t>Introduction</a:t>
            </a:r>
            <a:endParaRPr lang="en-US" sz="1900" dirty="0">
              <a:ea typeface="Calibri"/>
              <a:cs typeface="Calibri"/>
            </a:endParaRPr>
          </a:p>
          <a:p>
            <a:r>
              <a:rPr lang="en-US" sz="1900" dirty="0"/>
              <a:t>Dataset Description </a:t>
            </a:r>
          </a:p>
          <a:p>
            <a:r>
              <a:rPr lang="en-US" sz="1900" dirty="0">
                <a:ea typeface="Calibri"/>
                <a:cs typeface="Calibri"/>
              </a:rPr>
              <a:t>Data Cleaning</a:t>
            </a:r>
          </a:p>
          <a:p>
            <a:r>
              <a:rPr lang="en-US" sz="1900" dirty="0"/>
              <a:t>Exploratory Data Analysis (EDA)</a:t>
            </a:r>
          </a:p>
          <a:p>
            <a:r>
              <a:rPr lang="en-US" sz="1900" dirty="0">
                <a:latin typeface="Calibri"/>
                <a:ea typeface="Calibri Light"/>
                <a:cs typeface="Calibri Light"/>
              </a:rPr>
              <a:t>Feature Engineering</a:t>
            </a:r>
          </a:p>
          <a:p>
            <a:r>
              <a:rPr lang="en-US" sz="1900" dirty="0">
                <a:latin typeface="Calibri"/>
                <a:ea typeface="Calibri Light"/>
                <a:cs typeface="Calibri Light"/>
              </a:rPr>
              <a:t>Preprocessing Strategy</a:t>
            </a:r>
          </a:p>
          <a:p>
            <a:r>
              <a:rPr lang="en-US" sz="1900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Model Selection &amp; Training</a:t>
            </a:r>
          </a:p>
          <a:p>
            <a:r>
              <a:rPr lang="en-US" sz="1900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Model Evaluation Metrics</a:t>
            </a:r>
          </a:p>
          <a:p>
            <a:r>
              <a:rPr lang="en-US" sz="1900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Cross-Validation Performance Analysis</a:t>
            </a:r>
          </a:p>
          <a:p>
            <a:r>
              <a:rPr lang="en-US" sz="1900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Feature Selection using Recursive Elimination (RFE)</a:t>
            </a:r>
          </a:p>
          <a:p>
            <a:r>
              <a:rPr lang="en-US" sz="1900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Hyperparameter Tuning</a:t>
            </a:r>
          </a:p>
          <a:p>
            <a:r>
              <a:rPr lang="en-US" sz="1900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Visual Analysis of Model Predictions</a:t>
            </a:r>
          </a:p>
          <a:p>
            <a:r>
              <a:rPr lang="en-US" sz="1900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Domain Application &amp; Business Impacts</a:t>
            </a:r>
          </a:p>
          <a:p>
            <a:r>
              <a:rPr lang="en-US" sz="1900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Ethical Considerations &amp; Model Limitations</a:t>
            </a:r>
          </a:p>
          <a:p>
            <a:r>
              <a:rPr lang="en-US" sz="1900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Conclusion</a:t>
            </a:r>
          </a:p>
          <a:p>
            <a:endParaRPr lang="en-US" sz="2000" dirty="0">
              <a:solidFill>
                <a:sysClr val="windowText" lastClr="000000"/>
              </a:solidFill>
              <a:latin typeface="Calibri"/>
              <a:ea typeface="Calibri Light"/>
              <a:cs typeface="Calibri Light"/>
            </a:endParaRPr>
          </a:p>
          <a:p>
            <a:endParaRPr lang="en-US" sz="2000" dirty="0">
              <a:solidFill>
                <a:sysClr val="windowText" lastClr="000000"/>
              </a:solidFill>
              <a:latin typeface="Calibri"/>
              <a:ea typeface="Calibri Light"/>
              <a:cs typeface="Calibri Light"/>
            </a:endParaRPr>
          </a:p>
          <a:p>
            <a:pPr marL="0" indent="0">
              <a:buNone/>
            </a:pPr>
            <a:endParaRPr lang="en-US" dirty="0">
              <a:solidFill>
                <a:sysClr val="windowText" lastClr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3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46F0-EB5C-D552-4FFE-94160790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8BFD69-723D-D6B3-60F9-672AF9787B34}"/>
              </a:ext>
            </a:extLst>
          </p:cNvPr>
          <p:cNvSpPr txBox="1"/>
          <p:nvPr/>
        </p:nvSpPr>
        <p:spPr>
          <a:xfrm>
            <a:off x="425906" y="1691758"/>
            <a:ext cx="9776251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Predicting used car selling prices using machine learning.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Based on historical vehicle and market data.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Focus on improving accuracy</a:t>
            </a:r>
          </a:p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Supports informed decision-making for buyers and sellers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algn="just"/>
            <a:endParaRPr lang="en-US" sz="2400" i="1" dirty="0">
              <a:latin typeface="Calibri"/>
              <a:ea typeface="Calibri"/>
              <a:cs typeface="Times New Roman"/>
            </a:endParaRPr>
          </a:p>
          <a:p>
            <a:pPr algn="just"/>
            <a:r>
              <a:rPr lang="en-US" sz="2400" i="1" dirty="0">
                <a:latin typeface="Calibri"/>
                <a:ea typeface="Calibri"/>
                <a:cs typeface="Times New Roman"/>
              </a:rPr>
              <a:t>Primary objective: To build a predictive model that accurately estimates the selling price of used cars based on their attributes and usage history.</a:t>
            </a:r>
            <a:endParaRPr lang="en-US" sz="2400" i="1" dirty="0">
              <a:latin typeface="Calibri"/>
              <a:ea typeface="Calibri"/>
              <a:cs typeface="Calibri"/>
            </a:endParaRPr>
          </a:p>
          <a:p>
            <a:pPr algn="just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46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32CC9-2F23-BFA7-DF8F-48771241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F73F-4A21-28C4-764F-BF89E730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  <a:ea typeface="Calibri Light"/>
                <a:cs typeface="Calibri Light"/>
              </a:rPr>
              <a:t>Dataset Description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0103-D4F5-FF11-A722-09324655B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2353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GB" sz="1800" dirty="0">
                <a:latin typeface="Calibri"/>
                <a:ea typeface="Calibri"/>
                <a:cs typeface="Calibri"/>
              </a:rPr>
              <a:t>After loading the dataset successfully, an initial inspection confirmed that it contains </a:t>
            </a:r>
            <a:r>
              <a:rPr lang="en-GB" sz="1800" b="1" dirty="0">
                <a:latin typeface="Calibri"/>
                <a:ea typeface="Calibri"/>
                <a:cs typeface="Calibri"/>
              </a:rPr>
              <a:t>4,340 records </a:t>
            </a:r>
            <a:r>
              <a:rPr lang="en-GB" sz="1800" dirty="0">
                <a:latin typeface="Calibri"/>
                <a:ea typeface="Calibri"/>
                <a:cs typeface="Calibri"/>
              </a:rPr>
              <a:t>and </a:t>
            </a:r>
            <a:r>
              <a:rPr lang="en-GB" sz="1800" b="1" dirty="0">
                <a:latin typeface="Calibri"/>
                <a:ea typeface="Calibri"/>
                <a:cs typeface="Calibri"/>
              </a:rPr>
              <a:t>8 attributes.</a:t>
            </a:r>
          </a:p>
          <a:p>
            <a:pPr algn="just"/>
            <a:r>
              <a:rPr lang="en-GB" sz="1800" dirty="0">
                <a:latin typeface="Calibri"/>
                <a:ea typeface="Calibri"/>
                <a:cs typeface="Calibri"/>
              </a:rPr>
              <a:t> The dataset includes both numerical(3) and categorical attributes(5).</a:t>
            </a:r>
          </a:p>
          <a:p>
            <a:pPr algn="just"/>
            <a:r>
              <a:rPr lang="en-GB" sz="1800" dirty="0">
                <a:latin typeface="Calibri"/>
                <a:ea typeface="Calibri"/>
                <a:cs typeface="Calibri"/>
              </a:rPr>
              <a:t>The target variable for this study is selling price, which represents the resale price of a car and is the primary outcome the model aims to predict.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859EE0-46E0-1E9F-8E51-B19B33D06CCD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data frame&#10;&#10;AI-generated content may be incorrect.">
            <a:extLst>
              <a:ext uri="{FF2B5EF4-FFF2-40B4-BE49-F238E27FC236}">
                <a16:creationId xmlns:a16="http://schemas.microsoft.com/office/drawing/2014/main" id="{B36BCEDF-1A0F-C22F-EA97-2A59705E5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02" y="3882415"/>
            <a:ext cx="7353781" cy="2585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36DE4A56-C22F-DF1A-82F0-4D0883F15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580" y="3265200"/>
            <a:ext cx="5248275" cy="91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971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B889E-F06F-ECD9-4EB3-091D12E6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F70C2-F2AC-B547-A4A1-8069EC0F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D0377-0F8C-6742-E92C-B1663B19F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02" y="1691479"/>
            <a:ext cx="8419889" cy="17361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en-GB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the figure alongside, we can see total number of missing values for the given attributes. Among them, there are </a:t>
            </a:r>
            <a:r>
              <a:rPr lang="en-GB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 </a:t>
            </a:r>
            <a:r>
              <a:rPr lang="en-GB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missing target variables.</a:t>
            </a:r>
          </a:p>
          <a:p>
            <a:pPr marL="0" indent="0">
              <a:buNone/>
            </a:pPr>
            <a:endParaRPr lang="en-GB" sz="20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251F5B-CB5B-FB76-7C53-C9DEE7513A3A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7E7340-1900-F13A-1DF8-C8263DB8C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68" y="2443003"/>
            <a:ext cx="2580054" cy="1719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screenshot of a computer program">
            <a:extLst>
              <a:ext uri="{FF2B5EF4-FFF2-40B4-BE49-F238E27FC236}">
                <a16:creationId xmlns:a16="http://schemas.microsoft.com/office/drawing/2014/main" id="{474CC33D-46CB-95CF-E809-FEE43F218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86" y="2761136"/>
            <a:ext cx="6410064" cy="3666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7684F6-422E-6EAD-7EE3-4F1BD5C6DBB0}"/>
              </a:ext>
            </a:extLst>
          </p:cNvPr>
          <p:cNvSpPr txBox="1"/>
          <p:nvPr/>
        </p:nvSpPr>
        <p:spPr>
          <a:xfrm>
            <a:off x="6699249" y="4497242"/>
            <a:ext cx="424677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After handling the missing values, we now have </a:t>
            </a:r>
            <a:r>
              <a:rPr lang="en-US" b="1" dirty="0">
                <a:ea typeface="Calibri"/>
                <a:cs typeface="Calibri"/>
              </a:rPr>
              <a:t>4333 </a:t>
            </a:r>
            <a:r>
              <a:rPr lang="en-US" dirty="0">
                <a:ea typeface="Calibri"/>
                <a:cs typeface="Calibri"/>
              </a:rPr>
              <a:t>rows, as we have removed </a:t>
            </a:r>
            <a:r>
              <a:rPr lang="en-US" b="1" dirty="0">
                <a:ea typeface="Calibri"/>
                <a:cs typeface="Calibri"/>
              </a:rPr>
              <a:t>7 </a:t>
            </a:r>
            <a:r>
              <a:rPr lang="en-US" dirty="0">
                <a:ea typeface="Calibri"/>
                <a:cs typeface="Calibri"/>
              </a:rPr>
              <a:t>rows that contained missing target variables.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245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61795-AC0F-31DA-4EE0-7F9F32FAB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ED01-0BFB-3C52-B8EE-25BB378F6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B1AE8-CD3E-22B7-CF65-084870B08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02" y="1712355"/>
            <a:ext cx="8816546" cy="17152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GB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total of </a:t>
            </a:r>
            <a:r>
              <a:rPr lang="en-GB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754 </a:t>
            </a:r>
            <a:r>
              <a:rPr lang="en-GB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duplicate rows were identified in the dataset. 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GB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After duplicate removal, the dataset was reduced to </a:t>
            </a:r>
            <a:r>
              <a:rPr lang="en-GB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3,579</a:t>
            </a:r>
            <a:r>
              <a:rPr lang="en-GB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unique records, providing a cleaner and more reliable foundation for further analysis.</a:t>
            </a:r>
            <a:endParaRPr lang="en-GB" sz="2000" dirty="0"/>
          </a:p>
          <a:p>
            <a:pPr marL="0" indent="0" algn="just">
              <a:buNone/>
            </a:pPr>
            <a:endParaRPr lang="en-GB" sz="20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AE6842-B427-624D-14FE-BF20D76D3C0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474FD6B-9D4D-82DD-C5CD-B3A6EA7F3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61" y="2895600"/>
            <a:ext cx="6754399" cy="3572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032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9DEF2-6BF1-73BB-357A-1B65F24E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1462-637C-20E8-F48A-8F959960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Exploratory Data Analysis (EDA)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B4C8F-8DE0-B204-1545-429BF0FBA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D4D53C-1E30-DFF7-BF6F-03B6A02DFD05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8C9F22-4A77-7926-90EC-6B15E704BBB7}"/>
              </a:ext>
            </a:extLst>
          </p:cNvPr>
          <p:cNvSpPr txBox="1"/>
          <p:nvPr/>
        </p:nvSpPr>
        <p:spPr>
          <a:xfrm>
            <a:off x="331840" y="2011530"/>
            <a:ext cx="570810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distribution reflects real-world market trends: affordable used cars are common, while premium vehicles are rare.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Extreme values indicate potential outliers, which can heavily influence regression models if not addressed properly.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37A205-6F9B-192A-99D2-9B501E7F6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710" y="1736360"/>
            <a:ext cx="5708102" cy="45298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2164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E08CF-9C18-D6EB-C9DD-D7B3D909C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E94AA-8E33-FB97-6C3C-A9353C9B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Exploratory Data Analysis (EDA)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F7C4D9-DF28-1AC1-A559-94C69B5D2F3B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graph with a blue rectangle and black lines&#10;&#10;AI-generated content may be incorrect.">
            <a:extLst>
              <a:ext uri="{FF2B5EF4-FFF2-40B4-BE49-F238E27FC236}">
                <a16:creationId xmlns:a16="http://schemas.microsoft.com/office/drawing/2014/main" id="{F1D9157E-331F-4D0A-FE11-95629DCD0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566" y="1815231"/>
            <a:ext cx="5658894" cy="3488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0D705B-A9B7-0607-DFE5-556FA1AF30F8}"/>
              </a:ext>
            </a:extLst>
          </p:cNvPr>
          <p:cNvSpPr txBox="1"/>
          <p:nvPr/>
        </p:nvSpPr>
        <p:spPr>
          <a:xfrm>
            <a:off x="641434" y="5738638"/>
            <a:ext cx="1069722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From the first box plot, we can see that most used cars fetched the price of under 100,000 INR with some cars fetching higher price.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Whereas the cars that were made between 2010 to 2017 were a good catch for the buyers.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233B7E-75A2-52CA-44A4-77BA3C2789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62" y="1883663"/>
            <a:ext cx="5105617" cy="329552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2609179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C5276-EAA6-E139-C800-38C67E26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E69F-E962-BD88-6F55-2AC78E31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Exploratory Data Analysis (EDA)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13C07-0521-90D4-6865-B97050D32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solidFill>
                <a:srgbClr val="FF0000"/>
              </a:solidFill>
              <a:ea typeface="Calibri"/>
              <a:cs typeface="Calibri"/>
            </a:endParaRPr>
          </a:p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B6E0D5-FE54-E8C2-A965-328693784C69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blue dots&#10;&#10;AI-generated content may be incorrect.">
            <a:extLst>
              <a:ext uri="{FF2B5EF4-FFF2-40B4-BE49-F238E27FC236}">
                <a16:creationId xmlns:a16="http://schemas.microsoft.com/office/drawing/2014/main" id="{1296C519-AD53-7379-5C57-801EB5CB4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258"/>
          <a:stretch>
            <a:fillRect/>
          </a:stretch>
        </p:blipFill>
        <p:spPr>
          <a:xfrm>
            <a:off x="6512460" y="3542857"/>
            <a:ext cx="3861748" cy="2282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70EA074-E0BC-DA05-E85E-9EE290617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36" y="1902338"/>
            <a:ext cx="5154591" cy="3281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A3DB30-A847-499E-CDC3-9C1C31F2DDE4}"/>
              </a:ext>
            </a:extLst>
          </p:cNvPr>
          <p:cNvSpPr txBox="1"/>
          <p:nvPr/>
        </p:nvSpPr>
        <p:spPr>
          <a:xfrm>
            <a:off x="6096000" y="2114815"/>
            <a:ext cx="470406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Despite cars having less km, they are not getting the high price. It is due to other external factors such as car brand, conditions, etc.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5869D-C2CC-00D7-8DE6-C7EB91C03B36}"/>
              </a:ext>
            </a:extLst>
          </p:cNvPr>
          <p:cNvSpPr txBox="1"/>
          <p:nvPr/>
        </p:nvSpPr>
        <p:spPr>
          <a:xfrm>
            <a:off x="430427" y="5685042"/>
            <a:ext cx="59164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It can be observed that the cars using diesel have the higher selling price, whereas LPG having the least.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25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20F72-C90E-A834-065C-01A3AA02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68EF-9454-2291-92F2-EAE09FA4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ysClr val="windowText" lastClr="000000"/>
                </a:solidFill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6C6F-012C-A3C6-67E7-7C110DC3B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92AD6E-01A5-CDB0-CFF1-2F767DCB5F2C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7E83A5-81C0-438E-3C79-1E5353B24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90" y="1753539"/>
            <a:ext cx="7951326" cy="38305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530122-8657-6E56-E233-64CE95A58FC4}"/>
              </a:ext>
            </a:extLst>
          </p:cNvPr>
          <p:cNvSpPr txBox="1"/>
          <p:nvPr/>
        </p:nvSpPr>
        <p:spPr>
          <a:xfrm>
            <a:off x="430427" y="5846544"/>
            <a:ext cx="92659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Here, by using car manufacture year, we have calculated the car's age.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Also, we have taken the natural log of km driven to reduce skewness and </a:t>
            </a:r>
            <a:r>
              <a:rPr lang="en-US" dirty="0" err="1">
                <a:ea typeface="Calibri"/>
                <a:cs typeface="Calibri"/>
              </a:rPr>
              <a:t>stabilise</a:t>
            </a:r>
            <a:r>
              <a:rPr lang="en-US" dirty="0">
                <a:ea typeface="Calibri"/>
                <a:cs typeface="Calibri"/>
              </a:rPr>
              <a:t> variance.</a:t>
            </a:r>
          </a:p>
        </p:txBody>
      </p:sp>
    </p:spTree>
    <p:extLst>
      <p:ext uri="{BB962C8B-B14F-4D97-AF65-F5344CB8AC3E}">
        <p14:creationId xmlns:p14="http://schemas.microsoft.com/office/powerpoint/2010/main" val="4133719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34F7B7-6255-83F3-186B-E4CD491F8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3C1C-0F7A-24EC-E899-6DDDEA7F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ysClr val="windowText" lastClr="000000"/>
                </a:solidFill>
              </a:rPr>
              <a:t>Preprocessing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BF4C-0B08-55AA-B14D-1CCB4912C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690BA7-4A8F-5787-678C-29B27E4A3841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C135FB9-2935-F294-7F64-4B60CC4EC10B}"/>
              </a:ext>
            </a:extLst>
          </p:cNvPr>
          <p:cNvSpPr txBox="1"/>
          <p:nvPr/>
        </p:nvSpPr>
        <p:spPr>
          <a:xfrm>
            <a:off x="626123" y="1825625"/>
            <a:ext cx="386560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Encoding of categorical variables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Scaling of Numerical Features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Train-Test Split Strategy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Prevention of Data Leakage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131E18-BAF1-64FB-9CF3-BB05563B5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2" y="3025954"/>
            <a:ext cx="8069180" cy="32048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718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394CE-57C3-2D5D-173E-8694DDB6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2962-7333-9EFC-4484-F35322CB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Model Selection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E6B0BF-68F8-58CB-B0B2-4B5F83C10C15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5">
            <a:extLst>
              <a:ext uri="{FF2B5EF4-FFF2-40B4-BE49-F238E27FC236}">
                <a16:creationId xmlns:a16="http://schemas.microsoft.com/office/drawing/2014/main" id="{641F2054-4322-FF34-23C9-D5400A0FA9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427" y="1854881"/>
            <a:ext cx="1015503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b="1" dirty="0"/>
              <a:t>Multiple Linear Regression </a:t>
            </a:r>
            <a:r>
              <a:rPr lang="en-GB" sz="2000" dirty="0"/>
              <a:t>was chosen as a baseline model due to its simplicity and interpretability.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b="1" dirty="0"/>
              <a:t>Random Forest Regressor </a:t>
            </a:r>
            <a:r>
              <a:rPr lang="en-GB" sz="2000" dirty="0"/>
              <a:t>was selected for its ability to model non-linear relationships and handle feature interactions without requiring feature scaling.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b="1" dirty="0"/>
              <a:t>Support Vector Regression </a:t>
            </a:r>
            <a:r>
              <a:rPr lang="en-GB" sz="2000" dirty="0"/>
              <a:t>was included to assess the performance of kernel-based methods on the dataset.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models were implemented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pipeline</a:t>
            </a:r>
          </a:p>
        </p:txBody>
      </p:sp>
    </p:spTree>
    <p:extLst>
      <p:ext uri="{BB962C8B-B14F-4D97-AF65-F5344CB8AC3E}">
        <p14:creationId xmlns:p14="http://schemas.microsoft.com/office/powerpoint/2010/main" val="1601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B4F91-967A-37C4-612B-DCA46CA8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DD9B2-59D2-6185-617A-C14155846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Model Training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113130-ADCC-4D5C-BB5F-ADE438CC6A01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5">
            <a:extLst>
              <a:ext uri="{FF2B5EF4-FFF2-40B4-BE49-F238E27FC236}">
                <a16:creationId xmlns:a16="http://schemas.microsoft.com/office/drawing/2014/main" id="{D630FCE1-5A05-9F92-6D56-BC780553AF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427" y="1709079"/>
            <a:ext cx="9929725" cy="45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GB" sz="2000" dirty="0"/>
              <a:t>The dataset was split into training and testing sets using an 80:20 ratio with a fixed random state to ensure reproducibility.</a:t>
            </a:r>
          </a:p>
          <a:p>
            <a:pPr marL="0" indent="0" algn="just">
              <a:buNone/>
            </a:pPr>
            <a:r>
              <a:rPr lang="en-GB" sz="2000" dirty="0"/>
              <a:t>Two preprocessing pipelines were constructed:</a:t>
            </a:r>
          </a:p>
          <a:p>
            <a:pPr marL="0" lvl="0" indent="0" algn="just">
              <a:buNone/>
            </a:pPr>
            <a:r>
              <a:rPr lang="en-GB" sz="2000" b="1" dirty="0"/>
              <a:t>1. Scaled pipeline</a:t>
            </a:r>
            <a:r>
              <a:rPr lang="en-GB" sz="2000" dirty="0"/>
              <a:t>:</a:t>
            </a:r>
          </a:p>
          <a:p>
            <a:pPr lvl="0" algn="just"/>
            <a:r>
              <a:rPr lang="en-GB" sz="2000" dirty="0"/>
              <a:t> Applied standardization to numerical features and one-hot encoding to categorical features. </a:t>
            </a:r>
          </a:p>
          <a:p>
            <a:pPr lvl="0" algn="just"/>
            <a:r>
              <a:rPr lang="en-GB" sz="2000" dirty="0"/>
              <a:t>This pipeline was used for Linear Regression and SVR, as these models are sensitive to feature scale.</a:t>
            </a:r>
          </a:p>
          <a:p>
            <a:pPr marL="0" lvl="0" indent="0" algn="just">
              <a:buNone/>
            </a:pPr>
            <a:r>
              <a:rPr lang="en-GB" sz="2000" b="1" dirty="0"/>
              <a:t>2. Non-scaled pipeline</a:t>
            </a:r>
            <a:r>
              <a:rPr lang="en-GB" sz="2000" dirty="0"/>
              <a:t>: </a:t>
            </a:r>
          </a:p>
          <a:p>
            <a:pPr lvl="0" algn="just"/>
            <a:r>
              <a:rPr lang="en-GB" sz="2000" dirty="0"/>
              <a:t>Applied one-hot encoding to categorical features while passing numerical features unchanged. </a:t>
            </a:r>
          </a:p>
          <a:p>
            <a:pPr lvl="0" algn="just"/>
            <a:r>
              <a:rPr lang="en-GB" sz="2000" dirty="0"/>
              <a:t>This pipeline was used for the Random Forest Regressor, as tree-based models do not require feature scaling.</a:t>
            </a:r>
          </a:p>
        </p:txBody>
      </p:sp>
    </p:spTree>
    <p:extLst>
      <p:ext uri="{BB962C8B-B14F-4D97-AF65-F5344CB8AC3E}">
        <p14:creationId xmlns:p14="http://schemas.microsoft.com/office/powerpoint/2010/main" val="4012107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50DC4-61C9-A8E2-56CD-3BA76245B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3967-5073-7614-B137-9CD11AE8B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Model Evaluation Metrics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1AD0D7-0F67-1DDB-69CD-1B3D1216DF39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5">
            <a:extLst>
              <a:ext uri="{FF2B5EF4-FFF2-40B4-BE49-F238E27FC236}">
                <a16:creationId xmlns:a16="http://schemas.microsoft.com/office/drawing/2014/main" id="{94AF526F-531F-09D1-21CF-AA36FF2B9D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427" y="1834894"/>
            <a:ext cx="9903941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800" dirty="0"/>
              <a:t>Model performance was evaluated using three standard regression metrics</a:t>
            </a:r>
          </a:p>
          <a:p>
            <a:pPr lvl="0"/>
            <a:r>
              <a:rPr lang="en-GB" sz="1800" dirty="0"/>
              <a:t>Mean Absolute Error (MAE): measures the average magnitude of prediction errors.</a:t>
            </a:r>
          </a:p>
          <a:p>
            <a:pPr lvl="0"/>
            <a:r>
              <a:rPr lang="en-GB" sz="1800" dirty="0"/>
              <a:t>Root Mean Squared Error (RMSE): penalizes larger prediction errors more heavily.</a:t>
            </a:r>
          </a:p>
          <a:p>
            <a:pPr lvl="0"/>
            <a:r>
              <a:rPr lang="en-GB" sz="1800" dirty="0"/>
              <a:t>Coefficient of Determination (R</a:t>
            </a:r>
            <a:r>
              <a:rPr lang="en-GB" sz="1800" baseline="30000" dirty="0"/>
              <a:t>2</a:t>
            </a:r>
            <a:r>
              <a:rPr lang="en-GB" sz="1800" dirty="0"/>
              <a:t>): indicates how much variance in the target variable is explained by the model.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44DEE5-74EF-514E-1257-0F43011FB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0" y="4069914"/>
            <a:ext cx="9186346" cy="143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39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1F48D-22C0-64B3-0ED3-1FCE9065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E888-4756-80E7-868E-E56BEBCCA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Cross-Validation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6DBB0-8E9A-7EEE-A282-999B7FEAC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959423-A99B-3CE8-F220-4679DF57A1D6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2CE9CFC-40A1-14CE-1B29-DA58ED1499A3}"/>
              </a:ext>
            </a:extLst>
          </p:cNvPr>
          <p:cNvSpPr txBox="1"/>
          <p:nvPr/>
        </p:nvSpPr>
        <p:spPr>
          <a:xfrm>
            <a:off x="920750" y="1971923"/>
            <a:ext cx="8013185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Using RMSE as the evaluation metric, five-fold cross-validation was conducted to access model stability and generalization performance.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Overall, cross-validation results reinforced the selection of the Random Forest Regressor as the most reliable and accurate model for predicting used car selling prices.</a:t>
            </a: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3DDF4194-FACA-1488-DB51-9ABC4892AC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02"/>
          <a:stretch>
            <a:fillRect/>
          </a:stretch>
        </p:blipFill>
        <p:spPr>
          <a:xfrm>
            <a:off x="920750" y="3898539"/>
            <a:ext cx="7687962" cy="2278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4384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7ED9B-71A4-7ACA-591F-B630F6FE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A440-1587-1CE2-FFE8-B83355B0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Feature Selection using Recursive Feature Elimination (RFE)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74254-298C-D055-C711-BF102C5AD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994DFC-825D-8C12-1738-D6C3DB276E2D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0CB6BD-70FC-A470-0AFE-BCFD5BA2C609}"/>
              </a:ext>
            </a:extLst>
          </p:cNvPr>
          <p:cNvSpPr txBox="1"/>
          <p:nvPr/>
        </p:nvSpPr>
        <p:spPr>
          <a:xfrm>
            <a:off x="329176" y="5281641"/>
            <a:ext cx="1071810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RFE using Linear Regression was applied on the training data to identify the most influential predictors of vehicle selling price, revealing that brand-related variables and fuel type (notably electric vehicles) dominate price influence, while seller type and transmission contribute relatively little.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34247F-2129-56EF-1A1B-1CF11F398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049223"/>
              </p:ext>
            </p:extLst>
          </p:nvPr>
        </p:nvGraphicFramePr>
        <p:xfrm>
          <a:off x="705853" y="1825625"/>
          <a:ext cx="8228081" cy="31899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2107">
                  <a:extLst>
                    <a:ext uri="{9D8B030D-6E8A-4147-A177-3AD203B41FA5}">
                      <a16:colId xmlns:a16="http://schemas.microsoft.com/office/drawing/2014/main" val="3797441119"/>
                    </a:ext>
                  </a:extLst>
                </a:gridCol>
                <a:gridCol w="2742987">
                  <a:extLst>
                    <a:ext uri="{9D8B030D-6E8A-4147-A177-3AD203B41FA5}">
                      <a16:colId xmlns:a16="http://schemas.microsoft.com/office/drawing/2014/main" val="1646427646"/>
                    </a:ext>
                  </a:extLst>
                </a:gridCol>
                <a:gridCol w="2742987">
                  <a:extLst>
                    <a:ext uri="{9D8B030D-6E8A-4147-A177-3AD203B41FA5}">
                      <a16:colId xmlns:a16="http://schemas.microsoft.com/office/drawing/2014/main" val="2440095129"/>
                    </a:ext>
                  </a:extLst>
                </a:gridCol>
              </a:tblGrid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Feature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Selected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Ranking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477984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Fuel: Electric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4539128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Brand: Jeep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8817712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Brand: BMW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5109362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Brand: Isuzu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7245367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Brand: Jaguar</a:t>
                      </a:r>
                      <a:endParaRPr lang="en-GB" sz="1200" kern="100" dirty="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47116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Brand: Audi</a:t>
                      </a:r>
                      <a:endParaRPr lang="en-GB" sz="1200" kern="100" dirty="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999844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Brand: MG</a:t>
                      </a:r>
                      <a:endParaRPr lang="en-GB" sz="1200" kern="100" dirty="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8688742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Brand: Land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1508319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Brand: Volvo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4156476"/>
                  </a:ext>
                </a:extLst>
              </a:tr>
              <a:tr h="2899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Brand: Mercedes Benz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Yes</a:t>
                      </a:r>
                      <a:endParaRPr lang="en-GB" sz="1200" kern="10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en-GB" sz="1200" kern="100" dirty="0">
                        <a:solidFill>
                          <a:srgbClr val="2E74B5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4669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855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CBD95-BE78-67BB-E16E-A13A5D22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7545-881E-9C59-CE62-A4235F7DE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0C801-4338-698E-784E-FAAD5572B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C67FE1-2887-D065-DC1D-8823DD4D7906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771C6D1-BB9F-415A-3427-21451DB10D9F}"/>
              </a:ext>
            </a:extLst>
          </p:cNvPr>
          <p:cNvSpPr txBox="1"/>
          <p:nvPr/>
        </p:nvSpPr>
        <p:spPr>
          <a:xfrm>
            <a:off x="525163" y="3355848"/>
            <a:ext cx="957895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000" dirty="0" err="1">
                <a:ea typeface="Calibri"/>
                <a:cs typeface="Calibri"/>
              </a:rPr>
              <a:t>GridSearchCV</a:t>
            </a:r>
            <a:r>
              <a:rPr lang="en-US" sz="2000" dirty="0">
                <a:ea typeface="Calibri"/>
                <a:cs typeface="Calibri"/>
              </a:rPr>
              <a:t> with five-fold cross-validation was used to tune the Random Forest pipeline by </a:t>
            </a:r>
            <a:r>
              <a:rPr lang="en-US" sz="2000" dirty="0" err="1">
                <a:ea typeface="Calibri"/>
                <a:cs typeface="Calibri"/>
              </a:rPr>
              <a:t>minimising</a:t>
            </a:r>
            <a:r>
              <a:rPr lang="en-US" sz="2000" dirty="0">
                <a:ea typeface="Calibri"/>
                <a:cs typeface="Calibri"/>
              </a:rPr>
              <a:t> RMSE.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The tuned model improved </a:t>
            </a:r>
            <a:r>
              <a:rPr lang="en-US" sz="2000" dirty="0" err="1">
                <a:ea typeface="Calibri"/>
                <a:cs typeface="Calibri"/>
              </a:rPr>
              <a:t>generalisation</a:t>
            </a:r>
            <a:r>
              <a:rPr lang="en-US" sz="2000" dirty="0">
                <a:ea typeface="Calibri"/>
                <a:cs typeface="Calibri"/>
              </a:rPr>
              <a:t> and was selected for final evaluation.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7E5F0-A4F2-2F20-FAFC-F16385D4C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62" y="1916097"/>
            <a:ext cx="9578958" cy="11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68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1A875-753A-E886-E470-87E342D3C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563E-1AEB-4B34-3555-8D0C5788F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Visual Analysis of Model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956FB-8FCB-4C2E-9F61-E01795F57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6" y="1825625"/>
            <a:ext cx="52578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dirty="0"/>
              <a:t>Actual vs predicted plots assess how closely model predictions align with true prices.</a:t>
            </a:r>
          </a:p>
          <a:p>
            <a:pPr algn="just"/>
            <a:r>
              <a:rPr lang="en-US" dirty="0"/>
              <a:t>Linear regression underestimates higher-priced vehicles, showing limited non-linear modelling capability.</a:t>
            </a:r>
          </a:p>
          <a:p>
            <a:pPr algn="just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E42B4A-79A5-3923-F05A-CFED4D428289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7327579-1F67-A37A-7AA5-2D50AD43A5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458" y="1825625"/>
            <a:ext cx="6141542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9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929B1-D7DC-54C6-DC23-8DF5BF8F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B925-1ECD-56D6-4C68-142FCC27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Visual Analysis of Model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30BB8-C10A-8D5D-9C9C-10140949B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6" y="1825625"/>
            <a:ext cx="5473069" cy="271894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dirty="0"/>
              <a:t>Random Forest shows strong alignment with actual prices across ranges, indicating high accuracy and robust </a:t>
            </a:r>
            <a:r>
              <a:rPr lang="en-US" dirty="0" err="1"/>
              <a:t>generalisation</a:t>
            </a:r>
            <a:r>
              <a:rPr lang="en-US" dirty="0"/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448CA3-AF15-AC6C-6333-1FDBF41B3AED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AAF7E6E-C897-3A3A-98AE-67685F47EF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2637"/>
            <a:ext cx="6096000" cy="431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8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02E8C-ADCC-B138-1313-978C890F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21AB-3448-12C3-A843-D8D5E366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Visual Analysis of Model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16500-F225-6A55-3BBD-F5559BE0D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2026793"/>
            <a:ext cx="547306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Calibri"/>
                <a:cs typeface="Calibri"/>
              </a:rPr>
              <a:t>SVR compresses predictions and underestimates higher-priced vehicles, indicating weak learning of the target distribution.</a:t>
            </a:r>
            <a:endParaRPr lang="en-US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D881B3-BE26-8C7D-BDA4-C40E39F56C0B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87E860F-3003-7924-750F-DB9DA2C62C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496" y="1690688"/>
            <a:ext cx="6288504" cy="445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20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B3ECE-483F-F504-5306-A1F057163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0B77-627D-714B-36B3-C58952B1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Visual Analysis of Model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62BA-A0C5-5D44-80A3-8A05FEDC7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6" y="1825625"/>
            <a:ext cx="5473069" cy="32310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Residual plots were used to assess model bias and error symmetry.</a:t>
            </a:r>
          </a:p>
          <a:p>
            <a:pPr algn="just"/>
            <a:r>
              <a:rPr lang="en-US" dirty="0">
                <a:ea typeface="Calibri"/>
                <a:cs typeface="Calibri"/>
              </a:rPr>
              <a:t>Linear Regression shows right-skewed residuals, indicating systematic underestimation of higher-priced vehicles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F3F7D2-130F-864B-ACB0-CC70B261727B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DCE00E0-4E8D-C0B6-C721-D6D003933A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180" y="1825624"/>
            <a:ext cx="6123820" cy="433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6C5CF-9EAF-1949-56A5-816FFF4D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2499-F106-E48D-244D-B9882FB5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Visual Analysis of Model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150FA-9367-C738-1761-CD7BC0654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6" y="1825625"/>
            <a:ext cx="547306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Calibri"/>
                <a:cs typeface="Calibri"/>
              </a:rPr>
              <a:t>Random Forest shows balanced, near-zero residuals with low spread, indicating robust and consistent predictions.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4FA1FF-9CEE-9480-5369-940E36F79ABE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4E88141-A9DA-FA0F-CDC4-784C875AB7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494" y="1757445"/>
            <a:ext cx="6288505" cy="445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40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FC9D9-C2B2-D490-665B-EB82285FB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6F87-6358-74F4-3B6C-FD20F85E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Visual Analysis of Model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718DD-BD84-323A-203B-860FF3733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578749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Calibri"/>
                <a:cs typeface="Calibri"/>
              </a:rPr>
              <a:t>SVR residuals are heavily skewed, indicating persistent underprediction and weak </a:t>
            </a:r>
            <a:r>
              <a:rPr lang="en-US" dirty="0" err="1">
                <a:ea typeface="Calibri"/>
                <a:cs typeface="Calibri"/>
              </a:rPr>
              <a:t>generalisation</a:t>
            </a:r>
            <a:r>
              <a:rPr lang="en-US" dirty="0">
                <a:ea typeface="Calibri"/>
                <a:cs typeface="Calibri"/>
              </a:rPr>
              <a:t>.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50FCB8-FDC3-71A2-15F1-878FAD4649A9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E0024EB-34D8-987D-6A33-0E0C45BE6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0" y="1825625"/>
            <a:ext cx="5885029" cy="416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27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C086B-33E3-002E-9E67-FA5C0752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DEFF-90D3-1853-CD54-B8EB15C0D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Domain Application &amp; Business Impacts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ACAA-20E5-B79A-705C-8FCCEAB36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19DBC7-47F8-69D6-6129-8C210DC1582F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DD5CB0-838E-CE82-39F3-3EFFEE645F9A}"/>
              </a:ext>
            </a:extLst>
          </p:cNvPr>
          <p:cNvSpPr txBox="1"/>
          <p:nvPr/>
        </p:nvSpPr>
        <p:spPr>
          <a:xfrm>
            <a:off x="521919" y="1931096"/>
            <a:ext cx="9847378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>
                <a:ea typeface="Calibri"/>
                <a:cs typeface="Calibri"/>
              </a:rPr>
              <a:t>Domain Implications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Supports consistent, data-driven vehicle pricing and faster negotiations across marketplaces and dealerships.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Enables anomaly detection (e.g., overpriced listings) and handles real-world non-linear pricing patterns.</a:t>
            </a:r>
          </a:p>
          <a:p>
            <a:pPr algn="just"/>
            <a:endParaRPr lang="en-US" sz="2000" dirty="0">
              <a:ea typeface="Calibri"/>
              <a:cs typeface="Calibri"/>
            </a:endParaRPr>
          </a:p>
          <a:p>
            <a:pPr algn="just"/>
            <a:r>
              <a:rPr lang="en-US" sz="2000" b="1" dirty="0">
                <a:ea typeface="Calibri"/>
                <a:cs typeface="Calibri"/>
              </a:rPr>
              <a:t>Business &amp; Research Implications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Improves transparency, trust, and operational efficiency through automated, consistent valuations.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Supports strategic decisions and future research while highlighting the need for responsible, unbiased model use.</a:t>
            </a:r>
          </a:p>
        </p:txBody>
      </p:sp>
    </p:spTree>
    <p:extLst>
      <p:ext uri="{BB962C8B-B14F-4D97-AF65-F5344CB8AC3E}">
        <p14:creationId xmlns:p14="http://schemas.microsoft.com/office/powerpoint/2010/main" val="3575075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935B1-C7F1-F65F-508F-9EAE8CF12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B341-CB35-A4BD-9B65-19BC2F86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  <a:t>Ethical Considerations &amp; Model Limitations</a:t>
            </a:r>
            <a:br>
              <a:rPr lang="en-US" dirty="0">
                <a:solidFill>
                  <a:sysClr val="windowText" lastClr="000000"/>
                </a:solidFill>
                <a:latin typeface="Calibri"/>
                <a:ea typeface="Calibri Light"/>
                <a:cs typeface="Calibri Light"/>
              </a:rPr>
            </a:br>
            <a:endParaRPr lang="en-US" dirty="0">
              <a:solidFill>
                <a:sysClr val="windowText" lastClr="000000"/>
              </a:solidFill>
              <a:latin typeface="Calibri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8D577-7999-1589-B7DF-2F2AFAAD1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162" y="1789049"/>
            <a:ext cx="978342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endParaRPr lang="en-US" sz="2400" dirty="0">
              <a:ea typeface="Calibri"/>
              <a:cs typeface="Calibri"/>
            </a:endParaRPr>
          </a:p>
          <a:p>
            <a:pPr algn="just"/>
            <a:r>
              <a:rPr lang="en-US" sz="2400" dirty="0"/>
              <a:t>Ensure privacy, consent, and regulatory compliance when linking pricing models to user or transaction data.</a:t>
            </a:r>
          </a:p>
          <a:p>
            <a:pPr algn="just"/>
            <a:r>
              <a:rPr lang="en-US" sz="2400" dirty="0"/>
              <a:t>Address bias from underrepresented brands or categories to avoid unfair pricing outcomes.</a:t>
            </a:r>
          </a:p>
          <a:p>
            <a:pPr algn="just"/>
            <a:r>
              <a:rPr lang="en-US" sz="2400" dirty="0"/>
              <a:t>Incorrect predictions can cause financial loss and reduced trust; outputs should support, not replace, human decisions.</a:t>
            </a:r>
          </a:p>
          <a:p>
            <a:pPr algn="just"/>
            <a:r>
              <a:rPr lang="en-US" sz="2400" dirty="0"/>
              <a:t>Maintain transparency, uncertainty reporting, and regular retraining to adapt to changing market conditions.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192DDE-BF33-21C9-E894-6F66ABE32E6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222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834A1-0919-3B54-0793-04076ABD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1E80-2829-6E00-1B94-E3F4F5196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1B14-AC47-A7BF-B2C0-AC76B5511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139C2B-050C-25E5-8DF0-72F83BE3440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0E22865-A85C-0F09-3B82-84AD3B780736}"/>
              </a:ext>
            </a:extLst>
          </p:cNvPr>
          <p:cNvSpPr txBox="1"/>
          <p:nvPr/>
        </p:nvSpPr>
        <p:spPr>
          <a:xfrm>
            <a:off x="525162" y="1825625"/>
            <a:ext cx="9883954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Machine learning techniques were successfully applied to predict used car selling prices</a:t>
            </a:r>
            <a:endParaRPr lang="en-US" sz="2400" dirty="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Exploratory data analysis and preprocessing identified key factors influencing resale value.</a:t>
            </a:r>
            <a:endParaRPr lang="en-US" sz="2400" dirty="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Multiple regression models were developed and evaluated using k-fold cross-validation.</a:t>
            </a:r>
            <a:endParaRPr lang="en-US" sz="2400" dirty="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Random Forest Regressor achieved the best performance and </a:t>
            </a:r>
            <a:r>
              <a:rPr lang="en-US" sz="2400" dirty="0" err="1">
                <a:ea typeface="+mn-lt"/>
                <a:cs typeface="+mn-lt"/>
              </a:rPr>
              <a:t>generalisation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Feature selection and hyperparameter tuning improved interpretability and accuracy.</a:t>
            </a:r>
            <a:endParaRPr lang="en-US" sz="2400" dirty="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Ensemble-based models effectively captured non-linear pricing relationships.</a:t>
            </a:r>
            <a:endParaRPr lang="en-US" sz="24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0133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5624c3-8703-426f-9380-4cbc3df9686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DFEDEF1892940A8C88B6B46C2376F" ma:contentTypeVersion="9" ma:contentTypeDescription="Create a new document." ma:contentTypeScope="" ma:versionID="f499aac2b226315ddb54c5d169b9f9dc">
  <xsd:schema xmlns:xsd="http://www.w3.org/2001/XMLSchema" xmlns:xs="http://www.w3.org/2001/XMLSchema" xmlns:p="http://schemas.microsoft.com/office/2006/metadata/properties" xmlns:ns3="225624c3-8703-426f-9380-4cbc3df96860" targetNamespace="http://schemas.microsoft.com/office/2006/metadata/properties" ma:root="true" ma:fieldsID="979ac1f3b09c02d3ae241b6f0a53ea22" ns3:_="">
    <xsd:import namespace="225624c3-8703-426f-9380-4cbc3df9686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5624c3-8703-426f-9380-4cbc3df9686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93ECB7-811A-478B-B876-D16AAA496A70}">
  <ds:schemaRefs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225624c3-8703-426f-9380-4cbc3df96860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4032408-9DD7-44B2-8F33-9CF0367CBF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918F8F-C6A7-44B9-9B35-108378074F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5624c3-8703-426f-9380-4cbc3df968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c8ae38e-f85b-4309-b7ec-862815a37aee}" enabled="0" method="" siteId="{5c8ae38e-f85b-4309-b7ec-862815a37a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Words>1439</Words>
  <Application>Microsoft Office PowerPoint</Application>
  <PresentationFormat>Widescreen</PresentationFormat>
  <Paragraphs>186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MS Gothic</vt:lpstr>
      <vt:lpstr>Arial</vt:lpstr>
      <vt:lpstr>Arial,Sans-Serif</vt:lpstr>
      <vt:lpstr>Calibri</vt:lpstr>
      <vt:lpstr>Calibri Light</vt:lpstr>
      <vt:lpstr>Helvetica</vt:lpstr>
      <vt:lpstr>Times New Roman</vt:lpstr>
      <vt:lpstr>Office Theme</vt:lpstr>
      <vt:lpstr>Predicting Used Car Prices Using Machine Learning: A Comparative Regression Analysis</vt:lpstr>
      <vt:lpstr>PowerPoint Presentation</vt:lpstr>
      <vt:lpstr>Table of Content </vt:lpstr>
      <vt:lpstr>Introduction</vt:lpstr>
      <vt:lpstr>Dataset Description</vt:lpstr>
      <vt:lpstr>Data Cleaning</vt:lpstr>
      <vt:lpstr>Data Cleaning</vt:lpstr>
      <vt:lpstr>Exploratory Data Analysis (EDA)</vt:lpstr>
      <vt:lpstr>Exploratory Data Analysis (EDA)</vt:lpstr>
      <vt:lpstr>Exploratory Data Analysis (EDA)</vt:lpstr>
      <vt:lpstr>Feature engineering</vt:lpstr>
      <vt:lpstr>Preprocessing Strategy</vt:lpstr>
      <vt:lpstr>Model Selection</vt:lpstr>
      <vt:lpstr>Model Training</vt:lpstr>
      <vt:lpstr>Model Evaluation Metrics</vt:lpstr>
      <vt:lpstr>Cross-Validation Performance Analysis</vt:lpstr>
      <vt:lpstr>Feature Selection using Recursive Feature Elimination (RFE)</vt:lpstr>
      <vt:lpstr>Hyperparameter Tuning</vt:lpstr>
      <vt:lpstr>Visual Analysis of Model Predictions</vt:lpstr>
      <vt:lpstr>Visual Analysis of Model Predictions</vt:lpstr>
      <vt:lpstr>Visual Analysis of Model Predictions</vt:lpstr>
      <vt:lpstr>Visual Analysis of Model Predictions</vt:lpstr>
      <vt:lpstr>Visual Analysis of Model Predictions</vt:lpstr>
      <vt:lpstr>Visual Analysis of Model Predictions</vt:lpstr>
      <vt:lpstr>Domain Application &amp; Business Impacts</vt:lpstr>
      <vt:lpstr>Ethical Considerations &amp; Model Limitations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Lucy Pittard</dc:creator>
  <cp:lastModifiedBy>BHUWAN ALE</cp:lastModifiedBy>
  <cp:revision>3</cp:revision>
  <dcterms:created xsi:type="dcterms:W3CDTF">2023-06-15T10:03:21Z</dcterms:created>
  <dcterms:modified xsi:type="dcterms:W3CDTF">2025-12-18T02:01:32Z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0x010100A84DFEDEF1892940A8C88B6B46C2376F</vt:lpwstr>
  </property>
</Properties>
</file>